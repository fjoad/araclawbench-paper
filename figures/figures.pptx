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246120" cy="3429000"/>
          </a:xfrm>
          <a:prstGeom prst="roundRect">
            <a:avLst>
              <a:gd name="adj" fmla="val 3380"/>
            </a:avLst>
          </a:prstGeom>
          <a:solidFill>
            <a:srgbClr val="F3F4F7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task: save two open blog posts as PDFs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F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instruction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1556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“Please download the blogs opening now in PDF format and save them in their title to /home/user/Documents/Blog.”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202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instruction (human translated)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يرجى تنزيل المدوّنات المفتوحة الآن بصيغة PDF وحفظها بعناوينها في المسار:</a:t>
            </a:r>
            <a:endParaRPr lang="ar-SA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97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/home/user/Documents/Blog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task is also translated to Egyptian, Syrian, Qatari, Sudanese and Algerian Arabic.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03320" y="246888"/>
            <a:ext cx="8183880" cy="1691640"/>
          </a:xfrm>
          <a:prstGeom prst="roundRect">
            <a:avLst>
              <a:gd name="adj" fmla="val 4324"/>
            </a:avLst>
          </a:prstGeom>
          <a:solidFill>
            <a:srgbClr val="E8F0FA"/>
          </a:solidFill>
          <a:ln w="9525">
            <a:solidFill>
              <a:srgbClr val="E8F0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3108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machine</a:t>
            </a:r>
            <a:endParaRPr lang="en-US" sz="900" dirty="0"/>
          </a:p>
        </p:txBody>
      </p:sp>
      <p:pic>
        <p:nvPicPr>
          <p:cNvPr id="12" name="Image 0" descr="en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512064"/>
            <a:ext cx="2240280" cy="125272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840480" y="17922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Print, save as PDF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6099048" y="100126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pic>
        <p:nvPicPr>
          <p:cNvPr id="15" name="Image 1" descr="en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12064"/>
            <a:ext cx="2240280" cy="125272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263640" y="17922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Documents/Blog, saves the first article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8522208" y="100126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pic>
        <p:nvPicPr>
          <p:cNvPr id="18" name="Image 2" descr="en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512064"/>
            <a:ext cx="2240280" cy="125272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686800" y="17922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the second article, done at step 21</a:t>
            </a:r>
            <a:endParaRPr lang="en-US" sz="850" dirty="0"/>
          </a:p>
        </p:txBody>
      </p:sp>
      <p:sp>
        <p:nvSpPr>
          <p:cNvPr id="20" name="Text 15"/>
          <p:cNvSpPr txBox="1"/>
          <p:nvPr/>
        </p:nvSpPr>
        <p:spPr>
          <a:xfrm>
            <a:off x="11018520" y="978408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703320" y="2011680"/>
            <a:ext cx="8183880" cy="1691640"/>
          </a:xfrm>
          <a:prstGeom prst="roundRect">
            <a:avLst>
              <a:gd name="adj" fmla="val 4324"/>
            </a:avLst>
          </a:prstGeom>
          <a:solidFill>
            <a:srgbClr val="E9F5EE"/>
          </a:solidFill>
          <a:ln w="9525">
            <a:solidFill>
              <a:srgbClr val="E9F5EE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794760" y="2075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machine</a:t>
            </a:r>
            <a:endParaRPr lang="en-US" sz="900" dirty="0"/>
          </a:p>
        </p:txBody>
      </p:sp>
      <p:pic>
        <p:nvPicPr>
          <p:cNvPr id="23" name="Image 3" descr="msa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2276856"/>
            <a:ext cx="2240280" cy="125272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840480" y="35570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the path /home/user/Documents/Blog</a:t>
            </a:r>
            <a:endParaRPr lang="en-US" sz="850" dirty="0"/>
          </a:p>
        </p:txBody>
      </p:sp>
      <p:sp>
        <p:nvSpPr>
          <p:cNvPr id="25" name="Text 19"/>
          <p:cNvSpPr txBox="1"/>
          <p:nvPr/>
        </p:nvSpPr>
        <p:spPr>
          <a:xfrm>
            <a:off x="6099048" y="27660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pic>
        <p:nvPicPr>
          <p:cNvPr id="26" name="Image 4" descr="msa2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276856"/>
            <a:ext cx="2240280" cy="125272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263640" y="35570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folder is called المستندات, so “folder not found”</a:t>
            </a:r>
            <a:endParaRPr lang="en-US" sz="850" dirty="0"/>
          </a:p>
        </p:txBody>
      </p:sp>
      <p:sp>
        <p:nvSpPr>
          <p:cNvPr id="28" name="Text 21"/>
          <p:cNvSpPr txBox="1"/>
          <p:nvPr/>
        </p:nvSpPr>
        <p:spPr>
          <a:xfrm>
            <a:off x="8522208" y="27660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pic>
        <p:nvPicPr>
          <p:cNvPr id="29" name="Image 5" descr="msa3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2276856"/>
            <a:ext cx="2240280" cy="125272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686800" y="35570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error at step 50, no PDFs saved</a:t>
            </a:r>
            <a:endParaRPr lang="en-US" sz="850" dirty="0"/>
          </a:p>
        </p:txBody>
      </p:sp>
      <p:sp>
        <p:nvSpPr>
          <p:cNvPr id="31" name="Text 23"/>
          <p:cNvSpPr txBox="1"/>
          <p:nvPr/>
        </p:nvSpPr>
        <p:spPr>
          <a:xfrm>
            <a:off x="11018520" y="274320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B03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274320" y="3977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274320" y="4251960"/>
            <a:ext cx="1481328" cy="1965960"/>
          </a:xfrm>
          <a:prstGeom prst="roundRect">
            <a:avLst>
              <a:gd name="adj" fmla="val 7407"/>
            </a:avLst>
          </a:prstGeom>
          <a:solidFill>
            <a:srgbClr val="F3F4F7"/>
          </a:solidFill>
          <a:ln w="9525">
            <a:solidFill>
              <a:srgbClr val="D5D9E0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4416552"/>
            <a:ext cx="548640" cy="54864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347472" y="505663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347472" y="5349240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tasks from OSWorld, ClawBench and Terminal-Bench, plus 50 new Arabic tasks</a:t>
            </a:r>
            <a:endParaRPr lang="en-US" sz="850" dirty="0"/>
          </a:p>
        </p:txBody>
      </p:sp>
      <p:sp>
        <p:nvSpPr>
          <p:cNvPr id="37" name="Shape 28"/>
          <p:cNvSpPr/>
          <p:nvPr/>
        </p:nvSpPr>
        <p:spPr>
          <a:xfrm>
            <a:off x="1783080" y="5143500"/>
            <a:ext cx="164592" cy="182880"/>
          </a:xfrm>
          <a:prstGeom prst="rightArrow">
            <a:avLst/>
          </a:prstGeom>
          <a:solidFill>
            <a:srgbClr val="B9C2CF"/>
          </a:solidFill>
          <a:ln w="6350">
            <a:solidFill>
              <a:srgbClr val="B9C2CF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1975104" y="4251960"/>
            <a:ext cx="1481328" cy="1965960"/>
          </a:xfrm>
          <a:prstGeom prst="roundRect">
            <a:avLst>
              <a:gd name="adj" fmla="val 7407"/>
            </a:avLst>
          </a:prstGeom>
          <a:solidFill>
            <a:srgbClr val="F3F4F7"/>
          </a:solidFill>
          <a:ln w="9525">
            <a:solidFill>
              <a:srgbClr val="D5D9E0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1448" y="4416552"/>
            <a:ext cx="548640" cy="54864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2048256" y="505663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100" dirty="0"/>
          </a:p>
        </p:txBody>
      </p:sp>
      <p:sp>
        <p:nvSpPr>
          <p:cNvPr id="41" name="Text 31"/>
          <p:cNvSpPr txBox="1"/>
          <p:nvPr/>
        </p:nvSpPr>
        <p:spPr>
          <a:xfrm>
            <a:off x="2048256" y="5349240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by humans to MSA and 5 dialects: Egyptian, Syrian, Qatari, Sudanese, Algerian</a:t>
            </a:r>
            <a:endParaRPr lang="en-US" sz="850" dirty="0"/>
          </a:p>
        </p:txBody>
      </p:sp>
      <p:sp>
        <p:nvSpPr>
          <p:cNvPr id="42" name="Shape 32"/>
          <p:cNvSpPr/>
          <p:nvPr/>
        </p:nvSpPr>
        <p:spPr>
          <a:xfrm>
            <a:off x="3483864" y="5143500"/>
            <a:ext cx="164592" cy="182880"/>
          </a:xfrm>
          <a:prstGeom prst="rightArrow">
            <a:avLst/>
          </a:prstGeom>
          <a:solidFill>
            <a:srgbClr val="B9C2CF"/>
          </a:solidFill>
          <a:ln w="6350">
            <a:solidFill>
              <a:srgbClr val="B9C2CF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3675888" y="4251960"/>
            <a:ext cx="1481328" cy="1965960"/>
          </a:xfrm>
          <a:prstGeom prst="roundRect">
            <a:avLst>
              <a:gd name="adj" fmla="val 7407"/>
            </a:avLst>
          </a:prstGeom>
          <a:solidFill>
            <a:srgbClr val="F3F4F7"/>
          </a:solidFill>
          <a:ln w="9525">
            <a:solidFill>
              <a:srgbClr val="D5D9E0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2232" y="4416552"/>
            <a:ext cx="548640" cy="548640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3749040" y="505663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machines</a:t>
            </a:r>
            <a:endParaRPr lang="en-US" sz="1100" dirty="0"/>
          </a:p>
        </p:txBody>
      </p:sp>
      <p:sp>
        <p:nvSpPr>
          <p:cNvPr id="46" name="Text 35"/>
          <p:cNvSpPr txBox="1"/>
          <p:nvPr/>
        </p:nvSpPr>
        <p:spPr>
          <a:xfrm>
            <a:off x="3749040" y="5349240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VM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VM</a:t>
            </a:r>
            <a:endParaRPr lang="en-US" sz="850" dirty="0"/>
          </a:p>
        </p:txBody>
      </p:sp>
      <p:sp>
        <p:nvSpPr>
          <p:cNvPr id="47" name="Shape 36"/>
          <p:cNvSpPr/>
          <p:nvPr/>
        </p:nvSpPr>
        <p:spPr>
          <a:xfrm>
            <a:off x="5184648" y="5143500"/>
            <a:ext cx="164592" cy="182880"/>
          </a:xfrm>
          <a:prstGeom prst="rightArrow">
            <a:avLst/>
          </a:prstGeom>
          <a:solidFill>
            <a:srgbClr val="B9C2CF"/>
          </a:solidFill>
          <a:ln w="6350">
            <a:solidFill>
              <a:srgbClr val="B9C2CF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5376672" y="4251960"/>
            <a:ext cx="1481328" cy="1965960"/>
          </a:xfrm>
          <a:prstGeom prst="roundRect">
            <a:avLst>
              <a:gd name="adj" fmla="val 7407"/>
            </a:avLst>
          </a:prstGeom>
          <a:solidFill>
            <a:srgbClr val="F3F4F7"/>
          </a:solidFill>
          <a:ln w="9525">
            <a:solidFill>
              <a:srgbClr val="D5D9E0"/>
            </a:solidFill>
            <a:prstDash val="solid"/>
          </a:ln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43016" y="4416552"/>
            <a:ext cx="548640" cy="548640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5449824" y="505663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51" name="Text 39"/>
          <p:cNvSpPr txBox="1"/>
          <p:nvPr/>
        </p:nvSpPr>
        <p:spPr>
          <a:xfrm>
            <a:off x="5449824" y="5349240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screenshots and navigates with the mouse and keyboard</a:t>
            </a:r>
            <a:endParaRPr lang="en-US" sz="850" dirty="0"/>
          </a:p>
        </p:txBody>
      </p:sp>
      <p:sp>
        <p:nvSpPr>
          <p:cNvPr id="52" name="Shape 40"/>
          <p:cNvSpPr/>
          <p:nvPr/>
        </p:nvSpPr>
        <p:spPr>
          <a:xfrm>
            <a:off x="6885432" y="5143500"/>
            <a:ext cx="164592" cy="182880"/>
          </a:xfrm>
          <a:prstGeom prst="rightArrow">
            <a:avLst/>
          </a:prstGeom>
          <a:solidFill>
            <a:srgbClr val="B9C2CF"/>
          </a:solidFill>
          <a:ln w="6350">
            <a:solidFill>
              <a:srgbClr val="B9C2CF"/>
            </a:solidFill>
            <a:prstDash val="solid"/>
          </a:ln>
        </p:spPr>
      </p:sp>
      <p:sp>
        <p:nvSpPr>
          <p:cNvPr id="53" name="Shape 41"/>
          <p:cNvSpPr/>
          <p:nvPr/>
        </p:nvSpPr>
        <p:spPr>
          <a:xfrm>
            <a:off x="7077456" y="4251960"/>
            <a:ext cx="1481328" cy="1965960"/>
          </a:xfrm>
          <a:prstGeom prst="roundRect">
            <a:avLst>
              <a:gd name="adj" fmla="val 7407"/>
            </a:avLst>
          </a:prstGeom>
          <a:solidFill>
            <a:srgbClr val="F3F4F7"/>
          </a:solidFill>
          <a:ln w="9525">
            <a:solidFill>
              <a:srgbClr val="D5D9E0"/>
            </a:solidFill>
            <a:prstDash val="solid"/>
          </a:ln>
        </p:spPr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3800" y="4416552"/>
            <a:ext cx="548640" cy="548640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7150608" y="505663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56" name="Text 43"/>
          <p:cNvSpPr txBox="1"/>
          <p:nvPr/>
        </p:nvSpPr>
        <p:spPr>
          <a:xfrm>
            <a:off x="7150608" y="5349240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recorded. The final request is captured but not sent.</a:t>
            </a:r>
            <a:endParaRPr lang="en-US" sz="850" dirty="0"/>
          </a:p>
        </p:txBody>
      </p:sp>
      <p:sp>
        <p:nvSpPr>
          <p:cNvPr id="57" name="Shape 44"/>
          <p:cNvSpPr/>
          <p:nvPr/>
        </p:nvSpPr>
        <p:spPr>
          <a:xfrm>
            <a:off x="8586216" y="5143500"/>
            <a:ext cx="164592" cy="182880"/>
          </a:xfrm>
          <a:prstGeom prst="rightArrow">
            <a:avLst/>
          </a:prstGeom>
          <a:solidFill>
            <a:srgbClr val="B9C2CF"/>
          </a:solidFill>
          <a:ln w="6350">
            <a:solidFill>
              <a:srgbClr val="B9C2CF"/>
            </a:solidFill>
            <a:prstDash val="solid"/>
          </a:ln>
        </p:spPr>
      </p:sp>
      <p:sp>
        <p:nvSpPr>
          <p:cNvPr id="58" name="Shape 45"/>
          <p:cNvSpPr/>
          <p:nvPr/>
        </p:nvSpPr>
        <p:spPr>
          <a:xfrm>
            <a:off x="8778240" y="4251960"/>
            <a:ext cx="1481328" cy="1965960"/>
          </a:xfrm>
          <a:prstGeom prst="roundRect">
            <a:avLst>
              <a:gd name="adj" fmla="val 7407"/>
            </a:avLst>
          </a:prstGeom>
          <a:solidFill>
            <a:srgbClr val="F3F4F7"/>
          </a:solidFill>
          <a:ln w="9525">
            <a:solidFill>
              <a:srgbClr val="D5D9E0"/>
            </a:solidFill>
            <a:prstDash val="solid"/>
          </a:ln>
        </p:spPr>
      </p:sp>
      <p:pic>
        <p:nvPicPr>
          <p:cNvPr id="5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44584" y="4416552"/>
            <a:ext cx="548640" cy="548640"/>
          </a:xfrm>
          <a:prstGeom prst="rect">
            <a:avLst/>
          </a:prstGeom>
        </p:spPr>
      </p:pic>
      <p:sp>
        <p:nvSpPr>
          <p:cNvPr id="60" name="Text 46"/>
          <p:cNvSpPr txBox="1"/>
          <p:nvPr/>
        </p:nvSpPr>
        <p:spPr>
          <a:xfrm>
            <a:off x="8851392" y="505663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</a:t>
            </a:r>
            <a:endParaRPr lang="en-US" sz="1100" dirty="0"/>
          </a:p>
        </p:txBody>
      </p:sp>
      <p:sp>
        <p:nvSpPr>
          <p:cNvPr id="61" name="Text 47"/>
          <p:cNvSpPr txBox="1"/>
          <p:nvPr/>
        </p:nvSpPr>
        <p:spPr>
          <a:xfrm>
            <a:off x="8851392" y="5349240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recorded evidence. No LLM judge.</a:t>
            </a:r>
            <a:endParaRPr lang="en-US" sz="850" dirty="0"/>
          </a:p>
        </p:txBody>
      </p:sp>
      <p:sp>
        <p:nvSpPr>
          <p:cNvPr id="62" name="Shape 48"/>
          <p:cNvSpPr/>
          <p:nvPr/>
        </p:nvSpPr>
        <p:spPr>
          <a:xfrm>
            <a:off x="10287000" y="5143500"/>
            <a:ext cx="164592" cy="182880"/>
          </a:xfrm>
          <a:prstGeom prst="rightArrow">
            <a:avLst/>
          </a:prstGeom>
          <a:solidFill>
            <a:srgbClr val="B9C2CF"/>
          </a:solidFill>
          <a:ln w="6350">
            <a:solidFill>
              <a:srgbClr val="B9C2CF"/>
            </a:solidFill>
            <a:prstDash val="solid"/>
          </a:ln>
        </p:spPr>
      </p:sp>
      <p:sp>
        <p:nvSpPr>
          <p:cNvPr id="63" name="Shape 49"/>
          <p:cNvSpPr/>
          <p:nvPr/>
        </p:nvSpPr>
        <p:spPr>
          <a:xfrm>
            <a:off x="10479024" y="4251960"/>
            <a:ext cx="1481328" cy="1965960"/>
          </a:xfrm>
          <a:prstGeom prst="roundRect">
            <a:avLst>
              <a:gd name="adj" fmla="val 7407"/>
            </a:avLst>
          </a:prstGeom>
          <a:solidFill>
            <a:srgbClr val="F3F4F7"/>
          </a:solidFill>
          <a:ln w="9525">
            <a:solidFill>
              <a:srgbClr val="D5D9E0"/>
            </a:solidFill>
            <a:prstDash val="solid"/>
          </a:ln>
        </p:spPr>
      </p:sp>
      <p:pic>
        <p:nvPicPr>
          <p:cNvPr id="6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45368" y="4416552"/>
            <a:ext cx="548640" cy="548640"/>
          </a:xfrm>
          <a:prstGeom prst="rect">
            <a:avLst/>
          </a:prstGeom>
        </p:spPr>
      </p:pic>
      <p:sp>
        <p:nvSpPr>
          <p:cNvPr id="65" name="Text 50"/>
          <p:cNvSpPr txBox="1"/>
          <p:nvPr/>
        </p:nvSpPr>
        <p:spPr>
          <a:xfrm>
            <a:off x="10552176" y="505663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66" name="Text 51"/>
          <p:cNvSpPr txBox="1"/>
          <p:nvPr/>
        </p:nvSpPr>
        <p:spPr>
          <a:xfrm>
            <a:off x="10552176" y="5349240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or fail for each language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703320" cy="6309360"/>
          </a:xfrm>
          <a:prstGeom prst="roundRect">
            <a:avLst>
              <a:gd name="adj" fmla="val 3704"/>
            </a:avLst>
          </a:prstGeom>
          <a:solidFill>
            <a:srgbClr val="EEF3FB"/>
          </a:solidFill>
          <a:ln w="9525">
            <a:solidFill>
              <a:srgbClr val="EEF3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F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sees and does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51960" y="274320"/>
            <a:ext cx="3703320" cy="6309360"/>
          </a:xfrm>
          <a:prstGeom prst="roundRect">
            <a:avLst>
              <a:gd name="adj" fmla="val 3704"/>
            </a:avLst>
          </a:prstGeom>
          <a:solidFill>
            <a:srgbClr val="EEF7F0"/>
          </a:solidFill>
          <a:ln w="9525">
            <a:solidFill>
              <a:srgbClr val="EEF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480560" y="457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machines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0" y="274320"/>
            <a:ext cx="3703320" cy="6309360"/>
          </a:xfrm>
          <a:prstGeom prst="roundRect">
            <a:avLst>
              <a:gd name="adj" fmla="val 3704"/>
            </a:avLst>
          </a:prstGeom>
          <a:solidFill>
            <a:srgbClr val="FFF6E5"/>
          </a:solidFill>
          <a:ln w="9525">
            <a:solidFill>
              <a:srgbClr val="FFF6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58200" y="457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grade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1005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screenshot per step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1280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1360 × 768. No page source, no accessibility tree, no hints.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740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97280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2286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click, double click, drag, scroll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6324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097280" y="3291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press key</a:t>
            </a:r>
            <a:endParaRPr lang="en-US" sz="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6908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0" y="4023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1097280" y="4297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wait, done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02920" y="5074920"/>
            <a:ext cx="32461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5193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546811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has a fixed step and time limit (for example 150 steps or 30 minutes). The same limit is used for both languages and every model.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526280" y="100584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172200" y="100584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115568"/>
            <a:ext cx="502920" cy="502920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1115568"/>
            <a:ext cx="502920" cy="50292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572000" y="1691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VM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6217920" y="1691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VM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457200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interface</a:t>
            </a:r>
            <a:endParaRPr lang="en-US" sz="850" dirty="0"/>
          </a:p>
        </p:txBody>
      </p:sp>
      <p:sp>
        <p:nvSpPr>
          <p:cNvPr id="30" name="Text 22"/>
          <p:cNvSpPr txBox="1"/>
          <p:nvPr/>
        </p:nvSpPr>
        <p:spPr>
          <a:xfrm>
            <a:off x="6217920" y="1965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interface, keyboard and folder names, right to left</a:t>
            </a:r>
            <a:endParaRPr lang="en-US" sz="85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1554480"/>
            <a:ext cx="320040" cy="32004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4526280" y="2560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machines start from the same image and the same files. Only the system language differs.</a:t>
            </a:r>
            <a:endParaRPr lang="en-US" sz="9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3246120"/>
            <a:ext cx="384048" cy="384048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07492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5074920" y="3474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screenshot, every action and every network request is saved for each run.</a:t>
            </a:r>
            <a:endParaRPr lang="en-US" sz="95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6280" y="4389120"/>
            <a:ext cx="384048" cy="384048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5074920" y="4343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websites, no side effects</a:t>
            </a:r>
            <a:endParaRPr lang="en-US" sz="1200" dirty="0"/>
          </a:p>
        </p:txBody>
      </p:sp>
      <p:sp>
        <p:nvSpPr>
          <p:cNvPr id="38" name="Text 27"/>
          <p:cNvSpPr txBox="1"/>
          <p:nvPr/>
        </p:nvSpPr>
        <p:spPr>
          <a:xfrm>
            <a:off x="5074920" y="4617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payments, applications and posts, a proxy captures the final request and does not send it. The captured request is the evidence.</a:t>
            </a:r>
            <a:endParaRPr lang="en-US" sz="95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6280" y="5623560"/>
            <a:ext cx="384048" cy="384048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5074920" y="5577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instructions</a:t>
            </a:r>
            <a:endParaRPr lang="en-US" sz="1200" dirty="0"/>
          </a:p>
        </p:txBody>
      </p:sp>
      <p:sp>
        <p:nvSpPr>
          <p:cNvPr id="41" name="Text 29"/>
          <p:cNvSpPr txBox="1"/>
          <p:nvPr/>
        </p:nvSpPr>
        <p:spPr>
          <a:xfrm>
            <a:off x="5074920" y="5852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fails if any instruction changes. Numbers, IDs and quoted text are the same in every language.</a:t>
            </a:r>
            <a:endParaRPr lang="en-US" sz="950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3920" y="1051560"/>
            <a:ext cx="384048" cy="384048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9052560" y="1005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</a:t>
            </a:r>
            <a:endParaRPr lang="en-US" sz="1200" dirty="0"/>
          </a:p>
        </p:txBody>
      </p:sp>
      <p:sp>
        <p:nvSpPr>
          <p:cNvPr id="44" name="Text 31"/>
          <p:cNvSpPr txBox="1"/>
          <p:nvPr/>
        </p:nvSpPr>
        <p:spPr>
          <a:xfrm>
            <a:off x="9052560" y="12801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task. It looks at the saved files, the application state or the captured request. No LLM judge.</a:t>
            </a:r>
            <a:endParaRPr lang="en-US" sz="950" dirty="0"/>
          </a:p>
        </p:txBody>
      </p:sp>
      <p:sp>
        <p:nvSpPr>
          <p:cNvPr id="45" name="Text 32"/>
          <p:cNvSpPr txBox="1"/>
          <p:nvPr/>
        </p:nvSpPr>
        <p:spPr>
          <a:xfrm>
            <a:off x="8503920" y="242316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2E8B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46" name="Text 33"/>
          <p:cNvSpPr txBox="1"/>
          <p:nvPr/>
        </p:nvSpPr>
        <p:spPr>
          <a:xfrm>
            <a:off x="9601200" y="242316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B03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50" dirty="0"/>
          </a:p>
        </p:txBody>
      </p:sp>
      <p:sp>
        <p:nvSpPr>
          <p:cNvPr id="47" name="Text 34"/>
          <p:cNvSpPr txBox="1"/>
          <p:nvPr/>
        </p:nvSpPr>
        <p:spPr>
          <a:xfrm>
            <a:off x="10698480" y="242316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8A8F9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EVAL_ERROR</a:t>
            </a:r>
            <a:endParaRPr lang="en-US" sz="1050" dirty="0"/>
          </a:p>
        </p:txBody>
      </p:sp>
      <p:sp>
        <p:nvSpPr>
          <p:cNvPr id="48" name="Text 35"/>
          <p:cNvSpPr txBox="1"/>
          <p:nvPr/>
        </p:nvSpPr>
        <p:spPr>
          <a:xfrm>
            <a:off x="8503920" y="28803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EVAL_ERROR means something on our side broke (setup, recorder, checker, API). Those runs are thrown out and rerun. They are never counted as a model failure.</a:t>
            </a:r>
            <a:endParaRPr lang="en-US" sz="95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03920" y="3794760"/>
            <a:ext cx="384048" cy="384048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9052560" y="3749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</a:t>
            </a:r>
            <a:endParaRPr lang="en-US" sz="1200" dirty="0"/>
          </a:p>
        </p:txBody>
      </p:sp>
      <p:sp>
        <p:nvSpPr>
          <p:cNvPr id="51" name="Text 37"/>
          <p:cNvSpPr txBox="1"/>
          <p:nvPr/>
        </p:nvSpPr>
        <p:spPr>
          <a:xfrm>
            <a:off x="9052560" y="40233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in English is compared with the same task in Arabic. When one language passes and the other fails, the pair is rerun 3 times and checked by hand before it counts.</a:t>
            </a:r>
            <a:endParaRPr lang="en-US" sz="950" dirty="0"/>
          </a:p>
        </p:txBody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03920" y="5074920"/>
            <a:ext cx="384048" cy="384048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9052560" y="5029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54" name="Text 39"/>
          <p:cNvSpPr txBox="1"/>
          <p:nvPr/>
        </p:nvSpPr>
        <p:spPr>
          <a:xfrm>
            <a:off x="9052560" y="53035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pass is checked against its screenshots. Every fail gets a reason.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2026-09-02T15:05:33Z</dcterms:created>
  <dcterms:modified xsi:type="dcterms:W3CDTF">2026-09-02T15:05:33Z</dcterms:modified>
</cp:coreProperties>
</file>