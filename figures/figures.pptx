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3246120" cy="3429000"/>
          </a:xfrm>
          <a:prstGeom prst="roundRect">
            <a:avLst>
              <a:gd name="adj" fmla="val 3380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TASK, TWO MACHINES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858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“…download the blogs opening now in PDF format and save them in their title to /home/user/Documents/Blog.”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830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(MSA, human-translated)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«…يرجى تنزيل المدوّنات المفتوحة الآن بصيغة PDF وحفظها بعناوينها في المسار:»</a:t>
            </a:r>
            <a:endParaRPr lang="ar-SA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786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/home/user/Documents/Blog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Egyptian · Syrian · Qatari · Sudanese arms (human dialect translations)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703320" y="246888"/>
            <a:ext cx="8183880" cy="1691640"/>
          </a:xfrm>
          <a:prstGeom prst="roundRect">
            <a:avLst>
              <a:gd name="adj" fmla="val 4324"/>
            </a:avLst>
          </a:prstGeom>
          <a:solidFill>
            <a:srgbClr val="E8F0FA"/>
          </a:solidFill>
          <a:ln w="9525">
            <a:solidFill>
              <a:srgbClr val="E8F0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94760" y="3108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desktop</a:t>
            </a:r>
            <a:endParaRPr lang="en-US" sz="900" dirty="0"/>
          </a:p>
        </p:txBody>
      </p:sp>
      <p:pic>
        <p:nvPicPr>
          <p:cNvPr id="12" name="Image 0" descr="en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512064"/>
            <a:ext cx="2240280" cy="125272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3840480" y="17922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→ Save as PDF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099048" y="100126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pic>
        <p:nvPicPr>
          <p:cNvPr id="15" name="Image 1" descr="en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512064"/>
            <a:ext cx="2240280" cy="125272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263640" y="17922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Documents/Blog, saves by title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8522208" y="1001268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pic>
        <p:nvPicPr>
          <p:cNvPr id="18" name="Image 2" descr="en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12064"/>
            <a:ext cx="2240280" cy="125272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686800" y="17922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article saved · DONE at step 21</a:t>
            </a:r>
            <a:endParaRPr lang="en-US" sz="850" dirty="0"/>
          </a:p>
        </p:txBody>
      </p:sp>
      <p:sp>
        <p:nvSpPr>
          <p:cNvPr id="20" name="Text 15"/>
          <p:cNvSpPr txBox="1"/>
          <p:nvPr/>
        </p:nvSpPr>
        <p:spPr>
          <a:xfrm>
            <a:off x="11018520" y="978408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2E8B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✓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703320" y="2011680"/>
            <a:ext cx="8183880" cy="1691640"/>
          </a:xfrm>
          <a:prstGeom prst="roundRect">
            <a:avLst>
              <a:gd name="adj" fmla="val 4324"/>
            </a:avLst>
          </a:prstGeom>
          <a:solidFill>
            <a:srgbClr val="E9F5EE"/>
          </a:solidFill>
          <a:ln w="9525">
            <a:solidFill>
              <a:srgbClr val="E9F5EE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794760" y="2075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desktop (RTL)</a:t>
            </a:r>
            <a:endParaRPr lang="en-US" sz="900" dirty="0"/>
          </a:p>
        </p:txBody>
      </p:sp>
      <p:pic>
        <p:nvPicPr>
          <p:cNvPr id="23" name="Image 3" descr="msa1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2276856"/>
            <a:ext cx="2240280" cy="125272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840480" y="35570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the literal path …/Documents/Blog</a:t>
            </a:r>
            <a:endParaRPr lang="en-US" sz="850" dirty="0"/>
          </a:p>
        </p:txBody>
      </p:sp>
      <p:sp>
        <p:nvSpPr>
          <p:cNvPr id="25" name="Text 19"/>
          <p:cNvSpPr txBox="1"/>
          <p:nvPr/>
        </p:nvSpPr>
        <p:spPr>
          <a:xfrm>
            <a:off x="6099048" y="27660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pic>
        <p:nvPicPr>
          <p:cNvPr id="26" name="Image 4" descr="msa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2276856"/>
            <a:ext cx="2240280" cy="125272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263640" y="35570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is المستندات → “folder not found”</a:t>
            </a:r>
            <a:endParaRPr lang="en-US" sz="850" dirty="0"/>
          </a:p>
        </p:txBody>
      </p:sp>
      <p:sp>
        <p:nvSpPr>
          <p:cNvPr id="28" name="Text 21"/>
          <p:cNvSpPr txBox="1"/>
          <p:nvPr/>
        </p:nvSpPr>
        <p:spPr>
          <a:xfrm>
            <a:off x="8522208" y="27660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pic>
        <p:nvPicPr>
          <p:cNvPr id="29" name="Image 5" descr="msa3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2276856"/>
            <a:ext cx="2240280" cy="125272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686800" y="35570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50: same error, 0 PDFs</a:t>
            </a:r>
            <a:endParaRPr lang="en-US" sz="850" dirty="0"/>
          </a:p>
        </p:txBody>
      </p:sp>
      <p:sp>
        <p:nvSpPr>
          <p:cNvPr id="31" name="Text 23"/>
          <p:cNvSpPr txBox="1"/>
          <p:nvPr/>
        </p:nvSpPr>
        <p:spPr>
          <a:xfrm>
            <a:off x="11018520" y="2743200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B03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✗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274320" y="3977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274320" y="4251960"/>
            <a:ext cx="1481328" cy="178308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" y="4416552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47472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sources</a:t>
            </a:r>
            <a:endParaRPr lang="en-US" sz="1100" dirty="0"/>
          </a:p>
        </p:txBody>
      </p:sp>
      <p:sp>
        <p:nvSpPr>
          <p:cNvPr id="36" name="Text 27"/>
          <p:cNvSpPr txBox="1"/>
          <p:nvPr/>
        </p:nvSpPr>
        <p:spPr>
          <a:xfrm>
            <a:off x="347472" y="5349240"/>
            <a:ext cx="13350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OSWorld · ClawBench · Terminal-Bench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+ 50 native Arab-world tasks</a:t>
            </a:r>
            <a:endParaRPr lang="en-US" sz="850" dirty="0"/>
          </a:p>
        </p:txBody>
      </p:sp>
      <p:sp>
        <p:nvSpPr>
          <p:cNvPr id="37" name="Shape 28"/>
          <p:cNvSpPr/>
          <p:nvPr/>
        </p:nvSpPr>
        <p:spPr>
          <a:xfrm>
            <a:off x="1783080" y="505206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1975104" y="4251960"/>
            <a:ext cx="1481328" cy="178308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41448" y="4416552"/>
            <a:ext cx="548640" cy="54864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2048256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translation</a:t>
            </a:r>
            <a:endParaRPr lang="en-US" sz="1100" dirty="0"/>
          </a:p>
        </p:txBody>
      </p:sp>
      <p:sp>
        <p:nvSpPr>
          <p:cNvPr id="41" name="Text 31"/>
          <p:cNvSpPr txBox="1"/>
          <p:nvPr/>
        </p:nvSpPr>
        <p:spPr>
          <a:xfrm>
            <a:off x="2048256" y="5349240"/>
            <a:ext cx="13350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MSA + 4 dialects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 parity enforced</a:t>
            </a:r>
            <a:endParaRPr lang="en-US" sz="850" dirty="0"/>
          </a:p>
        </p:txBody>
      </p:sp>
      <p:sp>
        <p:nvSpPr>
          <p:cNvPr id="42" name="Shape 32"/>
          <p:cNvSpPr/>
          <p:nvPr/>
        </p:nvSpPr>
        <p:spPr>
          <a:xfrm>
            <a:off x="3483864" y="505206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3675888" y="4251960"/>
            <a:ext cx="1481328" cy="178308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42232" y="4416552"/>
            <a:ext cx="548640" cy="54864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3749040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machines</a:t>
            </a:r>
            <a:endParaRPr lang="en-US" sz="1100" dirty="0"/>
          </a:p>
        </p:txBody>
      </p:sp>
      <p:sp>
        <p:nvSpPr>
          <p:cNvPr id="46" name="Text 35"/>
          <p:cNvSpPr txBox="1"/>
          <p:nvPr/>
        </p:nvSpPr>
        <p:spPr>
          <a:xfrm>
            <a:off x="3749040" y="5349240"/>
            <a:ext cx="13350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VM · AR VM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image, locale differs</a:t>
            </a:r>
            <a:endParaRPr lang="en-US" sz="850" dirty="0"/>
          </a:p>
        </p:txBody>
      </p:sp>
      <p:sp>
        <p:nvSpPr>
          <p:cNvPr id="47" name="Shape 36"/>
          <p:cNvSpPr/>
          <p:nvPr/>
        </p:nvSpPr>
        <p:spPr>
          <a:xfrm>
            <a:off x="5184648" y="505206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48" name="Shape 37"/>
          <p:cNvSpPr/>
          <p:nvPr/>
        </p:nvSpPr>
        <p:spPr>
          <a:xfrm>
            <a:off x="5376672" y="4251960"/>
            <a:ext cx="1481328" cy="178308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43016" y="4416552"/>
            <a:ext cx="548640" cy="548640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5449824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51" name="Text 39"/>
          <p:cNvSpPr txBox="1"/>
          <p:nvPr/>
        </p:nvSpPr>
        <p:spPr>
          <a:xfrm>
            <a:off x="5449824" y="5349240"/>
            <a:ext cx="13350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in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+ keyboard out</a:t>
            </a:r>
            <a:endParaRPr lang="en-US" sz="850" dirty="0"/>
          </a:p>
        </p:txBody>
      </p:sp>
      <p:sp>
        <p:nvSpPr>
          <p:cNvPr id="52" name="Shape 40"/>
          <p:cNvSpPr/>
          <p:nvPr/>
        </p:nvSpPr>
        <p:spPr>
          <a:xfrm>
            <a:off x="6885432" y="505206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53" name="Shape 41"/>
          <p:cNvSpPr/>
          <p:nvPr/>
        </p:nvSpPr>
        <p:spPr>
          <a:xfrm>
            <a:off x="7077456" y="4251960"/>
            <a:ext cx="1481328" cy="178308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3800" y="4416552"/>
            <a:ext cx="548640" cy="548640"/>
          </a:xfrm>
          <a:prstGeom prst="rect">
            <a:avLst/>
          </a:prstGeom>
        </p:spPr>
      </p:pic>
      <p:sp>
        <p:nvSpPr>
          <p:cNvPr id="55" name="Text 42"/>
          <p:cNvSpPr txBox="1"/>
          <p:nvPr/>
        </p:nvSpPr>
        <p:spPr>
          <a:xfrm>
            <a:off x="7150608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56" name="Text 43"/>
          <p:cNvSpPr txBox="1"/>
          <p:nvPr/>
        </p:nvSpPr>
        <p:spPr>
          <a:xfrm>
            <a:off x="7150608" y="5349240"/>
            <a:ext cx="13350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recorder + blocking proxy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request captured, never sent</a:t>
            </a:r>
            <a:endParaRPr lang="en-US" sz="850" dirty="0"/>
          </a:p>
        </p:txBody>
      </p:sp>
      <p:sp>
        <p:nvSpPr>
          <p:cNvPr id="57" name="Shape 44"/>
          <p:cNvSpPr/>
          <p:nvPr/>
        </p:nvSpPr>
        <p:spPr>
          <a:xfrm>
            <a:off x="8586216" y="505206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58" name="Shape 45"/>
          <p:cNvSpPr/>
          <p:nvPr/>
        </p:nvSpPr>
        <p:spPr>
          <a:xfrm>
            <a:off x="8778240" y="4251960"/>
            <a:ext cx="1481328" cy="178308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44584" y="4416552"/>
            <a:ext cx="548640" cy="548640"/>
          </a:xfrm>
          <a:prstGeom prst="rect">
            <a:avLst/>
          </a:prstGeom>
        </p:spPr>
      </p:pic>
      <p:sp>
        <p:nvSpPr>
          <p:cNvPr id="60" name="Text 46"/>
          <p:cNvSpPr txBox="1"/>
          <p:nvPr/>
        </p:nvSpPr>
        <p:spPr>
          <a:xfrm>
            <a:off x="8851392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</a:t>
            </a:r>
            <a:endParaRPr lang="en-US" sz="1100" dirty="0"/>
          </a:p>
        </p:txBody>
      </p:sp>
      <p:sp>
        <p:nvSpPr>
          <p:cNvPr id="61" name="Text 47"/>
          <p:cNvSpPr txBox="1"/>
          <p:nvPr/>
        </p:nvSpPr>
        <p:spPr>
          <a:xfrm>
            <a:off x="8851392" y="5349240"/>
            <a:ext cx="13350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evidence only</a:t>
            </a:r>
            <a:endParaRPr lang="en-US" sz="850" dirty="0"/>
          </a:p>
        </p:txBody>
      </p:sp>
      <p:sp>
        <p:nvSpPr>
          <p:cNvPr id="62" name="Shape 48"/>
          <p:cNvSpPr/>
          <p:nvPr/>
        </p:nvSpPr>
        <p:spPr>
          <a:xfrm>
            <a:off x="10287000" y="5052060"/>
            <a:ext cx="164592" cy="18288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  <p:sp>
        <p:nvSpPr>
          <p:cNvPr id="63" name="Shape 49"/>
          <p:cNvSpPr/>
          <p:nvPr/>
        </p:nvSpPr>
        <p:spPr>
          <a:xfrm>
            <a:off x="10479024" y="4251960"/>
            <a:ext cx="1481328" cy="1783080"/>
          </a:xfrm>
          <a:prstGeom prst="roundRect">
            <a:avLst>
              <a:gd name="adj" fmla="val 7407"/>
            </a:avLst>
          </a:prstGeom>
          <a:solidFill>
            <a:srgbClr val="F3F4F7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6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45368" y="4416552"/>
            <a:ext cx="548640" cy="548640"/>
          </a:xfrm>
          <a:prstGeom prst="rect">
            <a:avLst/>
          </a:prstGeom>
        </p:spPr>
      </p:pic>
      <p:sp>
        <p:nvSpPr>
          <p:cNvPr id="65" name="Text 50"/>
          <p:cNvSpPr txBox="1"/>
          <p:nvPr/>
        </p:nvSpPr>
        <p:spPr>
          <a:xfrm>
            <a:off x="10552176" y="5056632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verdict</a:t>
            </a:r>
            <a:endParaRPr lang="en-US" sz="1100" dirty="0"/>
          </a:p>
        </p:txBody>
      </p:sp>
      <p:sp>
        <p:nvSpPr>
          <p:cNvPr id="66" name="Text 51"/>
          <p:cNvSpPr txBox="1"/>
          <p:nvPr/>
        </p:nvSpPr>
        <p:spPr>
          <a:xfrm>
            <a:off x="10552176" y="5349240"/>
            <a:ext cx="13350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FAIL per arm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EVAL_ERROR excluded</a:t>
            </a:r>
            <a:endParaRPr lang="en-US" sz="850" dirty="0"/>
          </a:p>
        </p:txBody>
      </p:sp>
      <p:sp>
        <p:nvSpPr>
          <p:cNvPr id="67" name="Text 52"/>
          <p:cNvSpPr txBox="1"/>
          <p:nvPr/>
        </p:nvSpPr>
        <p:spPr>
          <a:xfrm>
            <a:off x="274320" y="6172200"/>
            <a:ext cx="1161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task, same model (GPT-5.4), same budget — only the language of the instruction and the desktop differ. English saved both PDFs in 21 steps; Arabic typed the literal “Documents” path on a desktop whose folder is المستندات and never recovered.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3703320" cy="6309360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 w="9525">
            <a:solidFill>
              <a:srgbClr val="EEF3F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&amp; action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251960" y="274320"/>
            <a:ext cx="3703320" cy="6309360"/>
          </a:xfrm>
          <a:prstGeom prst="roundRect">
            <a:avLst>
              <a:gd name="adj" fmla="val 3704"/>
            </a:avLst>
          </a:prstGeom>
          <a:solidFill>
            <a:srgbClr val="EEF7F0"/>
          </a:solidFill>
          <a:ln w="9525">
            <a:solidFill>
              <a:srgbClr val="EEF7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480560" y="457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environments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0" y="274320"/>
            <a:ext cx="3703320" cy="6309360"/>
          </a:xfrm>
          <a:prstGeom prst="roundRect">
            <a:avLst>
              <a:gd name="adj" fmla="val 3704"/>
            </a:avLst>
          </a:prstGeom>
          <a:solidFill>
            <a:srgbClr val="FFF6E5"/>
          </a:solidFill>
          <a:ln w="9525">
            <a:solidFill>
              <a:srgbClr val="FFF6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58200" y="457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384048" cy="384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9728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screenshot per step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12801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1360 × 768 · no DOM, no accessibility tree, no hints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97280" y="2011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097280" y="2286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· double-click · drag · scroll</a:t>
            </a:r>
            <a:endParaRPr lang="en-US" sz="9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6324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0" y="3017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09728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· key (chords work under the Arabic layout)</a:t>
            </a:r>
            <a:endParaRPr lang="en-US" sz="9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69080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0" y="4023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1097280" y="4297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· done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02920" y="5074920"/>
            <a:ext cx="32461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51937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546811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Authored per task (e.g. 150 steps / 30 min), frozen with the task, identical across languages and models.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526280" y="10058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9E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172200" y="10058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1115568"/>
            <a:ext cx="502920" cy="502920"/>
          </a:xfrm>
          <a:prstGeom prst="rect">
            <a:avLst/>
          </a:prstGeom>
        </p:spPr>
      </p:pic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1115568"/>
            <a:ext cx="502920" cy="5029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572000" y="16916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VM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6217920" y="16916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VM (RTL)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19659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en_US locale · English UI</a:t>
            </a:r>
            <a:endParaRPr lang="en-US" sz="850" dirty="0"/>
          </a:p>
        </p:txBody>
      </p:sp>
      <p:sp>
        <p:nvSpPr>
          <p:cNvPr id="30" name="Text 22"/>
          <p:cNvSpPr txBox="1"/>
          <p:nvPr/>
        </p:nvSpPr>
        <p:spPr>
          <a:xfrm>
            <a:off x="6217920" y="19659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ar_QA locale · Arabic UI, keyboard, folders</a:t>
            </a:r>
            <a:endParaRPr lang="en-US" sz="850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1554480"/>
            <a:ext cx="320040" cy="32004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4526280" y="25603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disk image, same apps, same start state — only the locale differs.</a:t>
            </a:r>
            <a:endParaRPr lang="en-US" sz="95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6280" y="3246120"/>
            <a:ext cx="384048" cy="384048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5074920" y="3200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Recorder</a:t>
            </a:r>
            <a:endParaRPr lang="en-US" sz="1200" dirty="0"/>
          </a:p>
        </p:txBody>
      </p:sp>
      <p:sp>
        <p:nvSpPr>
          <p:cNvPr id="35" name="Text 25"/>
          <p:cNvSpPr txBox="1"/>
          <p:nvPr/>
        </p:nvSpPr>
        <p:spPr>
          <a:xfrm>
            <a:off x="5074920" y="34747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screenshot, every action, every network request — kept as the audit bundle</a:t>
            </a:r>
            <a:endParaRPr lang="en-US" sz="95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26280" y="4389120"/>
            <a:ext cx="384048" cy="384048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074920" y="4343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Capture-and-block proxy</a:t>
            </a:r>
            <a:endParaRPr lang="en-US" sz="1200" dirty="0"/>
          </a:p>
        </p:txBody>
      </p:sp>
      <p:sp>
        <p:nvSpPr>
          <p:cNvPr id="38" name="Text 27"/>
          <p:cNvSpPr txBox="1"/>
          <p:nvPr/>
        </p:nvSpPr>
        <p:spPr>
          <a:xfrm>
            <a:off x="5074920" y="46177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consequential request (payment, application, post) is captured as evidence and answered with a synthetic response — it never reaches the site</a:t>
            </a:r>
            <a:endParaRPr lang="en-US" sz="9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26280" y="5623560"/>
            <a:ext cx="384048" cy="3840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074920" y="5577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instructions</a:t>
            </a:r>
            <a:endParaRPr lang="en-US" sz="1200" dirty="0"/>
          </a:p>
        </p:txBody>
      </p:sp>
      <p:sp>
        <p:nvSpPr>
          <p:cNvPr id="41" name="Text 29"/>
          <p:cNvSpPr txBox="1"/>
          <p:nvPr/>
        </p:nvSpPr>
        <p:spPr>
          <a:xfrm>
            <a:off x="5074920" y="5852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test-locked; numbers, IDs and quoted strings identical across all arms</a:t>
            </a:r>
            <a:endParaRPr lang="en-US" sz="950" dirty="0"/>
          </a:p>
        </p:txBody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03920" y="1051560"/>
            <a:ext cx="384048" cy="384048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9052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checker</a:t>
            </a:r>
            <a:endParaRPr lang="en-US" sz="1200" dirty="0"/>
          </a:p>
        </p:txBody>
      </p:sp>
      <p:sp>
        <p:nvSpPr>
          <p:cNvPr id="44" name="Text 31"/>
          <p:cNvSpPr txBox="1"/>
          <p:nvPr/>
        </p:nvSpPr>
        <p:spPr>
          <a:xfrm>
            <a:off x="9052560" y="128016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task. Reads only the recorded evidence: files, application state, captured requests. No LLM judge in the primary metric.</a:t>
            </a:r>
            <a:endParaRPr lang="en-US" sz="950" dirty="0"/>
          </a:p>
        </p:txBody>
      </p:sp>
      <p:sp>
        <p:nvSpPr>
          <p:cNvPr id="45" name="Text 32"/>
          <p:cNvSpPr txBox="1"/>
          <p:nvPr/>
        </p:nvSpPr>
        <p:spPr>
          <a:xfrm>
            <a:off x="8503920" y="2423160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2E8B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50" dirty="0"/>
          </a:p>
        </p:txBody>
      </p:sp>
      <p:sp>
        <p:nvSpPr>
          <p:cNvPr id="46" name="Text 33"/>
          <p:cNvSpPr txBox="1"/>
          <p:nvPr/>
        </p:nvSpPr>
        <p:spPr>
          <a:xfrm>
            <a:off x="9601200" y="2423160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B03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050" dirty="0"/>
          </a:p>
        </p:txBody>
      </p:sp>
      <p:sp>
        <p:nvSpPr>
          <p:cNvPr id="47" name="Text 34"/>
          <p:cNvSpPr txBox="1"/>
          <p:nvPr/>
        </p:nvSpPr>
        <p:spPr>
          <a:xfrm>
            <a:off x="10698480" y="2423160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8A8F9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EVAL_ERROR</a:t>
            </a:r>
            <a:endParaRPr lang="en-US" sz="1050" dirty="0"/>
          </a:p>
        </p:txBody>
      </p:sp>
      <p:sp>
        <p:nvSpPr>
          <p:cNvPr id="48" name="Text 35"/>
          <p:cNvSpPr txBox="1"/>
          <p:nvPr/>
        </p:nvSpPr>
        <p:spPr>
          <a:xfrm>
            <a:off x="8503920" y="288036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EVAL_ERROR = our fault (setup, recorder, checker, provider). Excluded and rerun — never counted as a model failure.</a:t>
            </a:r>
            <a:endParaRPr lang="en-US" sz="950" dirty="0"/>
          </a:p>
        </p:txBody>
      </p:sp>
      <p:pic>
        <p:nvPicPr>
          <p:cNvPr id="4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03920" y="3794760"/>
            <a:ext cx="384048" cy="384048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905256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cells</a:t>
            </a:r>
            <a:endParaRPr lang="en-US" sz="1200" dirty="0"/>
          </a:p>
        </p:txBody>
      </p:sp>
      <p:sp>
        <p:nvSpPr>
          <p:cNvPr id="51" name="Text 37"/>
          <p:cNvSpPr txBox="1"/>
          <p:nvPr/>
        </p:nvSpPr>
        <p:spPr>
          <a:xfrm>
            <a:off x="9052560" y="402336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is the pair: one task, two arms. Divergent pairs (one arm passes) are re-run k = 3 and adjudicated from evidence before they count.</a:t>
            </a:r>
            <a:endParaRPr lang="en-US" sz="950" dirty="0"/>
          </a:p>
        </p:txBody>
      </p:sp>
      <p:pic>
        <p:nvPicPr>
          <p:cNvPr id="5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03920" y="5074920"/>
            <a:ext cx="384048" cy="384048"/>
          </a:xfrm>
          <a:prstGeom prst="rect">
            <a:avLst/>
          </a:prstGeom>
        </p:spPr>
      </p:pic>
      <p:sp>
        <p:nvSpPr>
          <p:cNvPr id="53" name="Text 38"/>
          <p:cNvSpPr txBox="1"/>
          <p:nvPr/>
        </p:nvSpPr>
        <p:spPr>
          <a:xfrm>
            <a:off x="9052560" y="5029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</p:txBody>
      </p:sp>
      <p:sp>
        <p:nvSpPr>
          <p:cNvPr id="54" name="Text 39"/>
          <p:cNvSpPr txBox="1"/>
          <p:nvPr/>
        </p:nvSpPr>
        <p:spPr>
          <a:xfrm>
            <a:off x="9052560" y="53035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read against its screenshots; every FAIL labeled with a cause; per-family significance by paired McNemar test.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74320"/>
            <a:ext cx="5669280" cy="411480"/>
          </a:xfrm>
          <a:prstGeom prst="roundRect">
            <a:avLst>
              <a:gd name="adj" fmla="val 17778"/>
            </a:avLst>
          </a:prstGeom>
          <a:solidFill>
            <a:srgbClr val="E8F0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F6F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Before any run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263640" y="274320"/>
            <a:ext cx="5669280" cy="411480"/>
          </a:xfrm>
          <a:prstGeom prst="roundRect">
            <a:avLst>
              <a:gd name="adj" fmla="val 17778"/>
            </a:avLst>
          </a:prstGeom>
          <a:solidFill>
            <a:srgbClr val="E9F5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During and after runs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669280" cy="1417320"/>
          </a:xfrm>
          <a:prstGeom prst="roundRect">
            <a:avLst>
              <a:gd name="adj" fmla="val 7742"/>
            </a:avLst>
          </a:prstGeom>
          <a:solidFill>
            <a:srgbClr val="F7F9FC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15568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0972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Frozen instructions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14447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English and Arabic instruction is locked by a test that compares it character-for-character to the approved source. Pinned literals must match across all six arms.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4320" y="2514600"/>
            <a:ext cx="5669280" cy="1417320"/>
          </a:xfrm>
          <a:prstGeom prst="roundRect">
            <a:avLst>
              <a:gd name="adj" fmla="val 7742"/>
            </a:avLst>
          </a:prstGeom>
          <a:solidFill>
            <a:srgbClr val="F7F9FC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15768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97280" y="26974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Build with truth-table tests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30449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Setups and checkers are implemented against a written work order. Each checker ships with a passing fixture, a near-miss that must fail, and both language arms.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274320" y="4114800"/>
            <a:ext cx="5669280" cy="1417320"/>
          </a:xfrm>
          <a:prstGeom prst="roundRect">
            <a:avLst>
              <a:gd name="adj" fmla="val 7742"/>
            </a:avLst>
          </a:prstGeom>
          <a:solidFill>
            <a:srgbClr val="F7F9FC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315968"/>
            <a:ext cx="411480" cy="4114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4297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Independent verification gate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097280" y="46451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merges until a second reviewer checks the branch against the work order: scope, no invented matchers, no weakened tests, no secrets.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263640" y="914400"/>
            <a:ext cx="5669280" cy="1417320"/>
          </a:xfrm>
          <a:prstGeom prst="roundRect">
            <a:avLst>
              <a:gd name="adj" fmla="val 7742"/>
            </a:avLst>
          </a:prstGeom>
          <a:solidFill>
            <a:srgbClr val="F5FAF6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115568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86600" y="10972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Watched cells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7086600" y="14447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 per family runs end to end in both languages while a human reads the evidence. A live block-proof must show a real final click captured and blocked before consequential tasks run.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263640" y="2514600"/>
            <a:ext cx="5669280" cy="1417320"/>
          </a:xfrm>
          <a:prstGeom prst="roundRect">
            <a:avLst>
              <a:gd name="adj" fmla="val 7742"/>
            </a:avLst>
          </a:prstGeom>
          <a:solidFill>
            <a:srgbClr val="F5FAF6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715768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86600" y="26974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Batches under the EVAL_ERROR rule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7086600" y="30449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setup, recorder, or checker evidence is an evaluation error, never a zero. Environment defects are fixed as their own commits and the affected cells rerun fresh — results are never edited.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6263640" y="4114800"/>
            <a:ext cx="5669280" cy="1417320"/>
          </a:xfrm>
          <a:prstGeom prst="roundRect">
            <a:avLst>
              <a:gd name="adj" fmla="val 7742"/>
            </a:avLst>
          </a:prstGeom>
          <a:solidFill>
            <a:srgbClr val="F5FAF6"/>
          </a:solidFill>
          <a:ln w="9525">
            <a:solidFill>
              <a:srgbClr val="D5D9E0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315968"/>
            <a:ext cx="411480" cy="41148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086600" y="4297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Evidence adjudication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7086600" y="46451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is read against its screenshots and captures; every FAIL gets a cause label; divergent pairs are re-run k = 3. A defect ledger records every fault found and how it was closed.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5870448" y="3108960"/>
            <a:ext cx="329184" cy="274320"/>
          </a:xfrm>
          <a:prstGeom prst="rightArrow">
            <a:avLst/>
          </a:prstGeom>
          <a:solidFill>
            <a:srgbClr val="B9C2CF"/>
          </a:solidFill>
          <a:ln w="6350">
            <a:solidFill>
              <a:srgbClr val="B9C2CF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2026-09-02T14:24:43Z</dcterms:created>
  <dcterms:modified xsi:type="dcterms:W3CDTF">2026-09-02T14:24:43Z</dcterms:modified>
</cp:coreProperties>
</file>