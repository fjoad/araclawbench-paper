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297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task: save two open blog posts as PDFs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268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instruction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“Please download the blogs opening now in PDF format and save them in their title to /home/user/Documents/Blog.”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instruction (human translated)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1762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يرجى تنزيل المدوّنات المفتوحة الآن بصيغة PDF وحفظها بعناوينها في المسار:</a:t>
            </a:r>
            <a:endParaRPr lang="ar-SA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791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/home/user/Documents/Blog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task is also translated to Egyptian, Syrian, Qatari, Sudanese and Algerian Arabic.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749040" y="320040"/>
            <a:ext cx="8138160" cy="1847088"/>
          </a:xfrm>
          <a:prstGeom prst="rect">
            <a:avLst/>
          </a:prstGeom>
          <a:solidFill>
            <a:srgbClr val="FFFFFF"/>
          </a:solidFill>
          <a:ln w="15875">
            <a:solidFill>
              <a:srgbClr val="1F4E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3749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machine</a:t>
            </a:r>
            <a:endParaRPr lang="en-US" sz="1000" dirty="0"/>
          </a:p>
        </p:txBody>
      </p:sp>
      <p:pic>
        <p:nvPicPr>
          <p:cNvPr id="12" name="Image 0" descr="e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594360"/>
            <a:ext cx="2240280" cy="12527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886200" y="1874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Print, save as PDF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53912" y="1220724"/>
            <a:ext cx="128016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pic>
        <p:nvPicPr>
          <p:cNvPr id="15" name="Image 1" descr="e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94360"/>
            <a:ext cx="2240280" cy="125272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309360" y="1874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Documents/Blog, saves the first article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8577072" y="1220724"/>
            <a:ext cx="128016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pic>
        <p:nvPicPr>
          <p:cNvPr id="18" name="Image 2" descr="en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94360"/>
            <a:ext cx="2240280" cy="125272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32520" y="1874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the second article, done at step 21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11064240" y="1005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749040" y="2240280"/>
            <a:ext cx="8138160" cy="1847088"/>
          </a:xfrm>
          <a:prstGeom prst="rect">
            <a:avLst/>
          </a:prstGeom>
          <a:solidFill>
            <a:srgbClr val="FFFFFF"/>
          </a:solidFill>
          <a:ln w="15875">
            <a:solidFill>
              <a:srgbClr val="1E6B3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40480" y="229514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machine</a:t>
            </a:r>
            <a:endParaRPr lang="en-US" sz="1000" dirty="0"/>
          </a:p>
        </p:txBody>
      </p:sp>
      <p:pic>
        <p:nvPicPr>
          <p:cNvPr id="23" name="Image 3" descr="msa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514600"/>
            <a:ext cx="2240280" cy="12527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886200" y="3794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the path /home/user/Documents/Blog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6153912" y="3140964"/>
            <a:ext cx="128016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pic>
        <p:nvPicPr>
          <p:cNvPr id="26" name="Image 4" descr="msa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514600"/>
            <a:ext cx="2240280" cy="125272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309360" y="3794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folder is called المستندات, so “folder not found”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8577072" y="3140964"/>
            <a:ext cx="128016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pic>
        <p:nvPicPr>
          <p:cNvPr id="29" name="Image 5" descr="msa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2514600"/>
            <a:ext cx="2240280" cy="125272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732520" y="3794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error at step 50, no PDFs saved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11064240" y="2926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320040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11480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411480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 tasks from OSWorld, ClawBench and Terminal-Bench, plus 50 new Arabic tasks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1819656" y="5097780"/>
            <a:ext cx="1828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6" name="Shape 28"/>
          <p:cNvSpPr/>
          <p:nvPr/>
        </p:nvSpPr>
        <p:spPr>
          <a:xfrm>
            <a:off x="2020824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2112264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2112264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Translated by humans to MSA and 5 dialects: Egyptian, Syrian, Qatari, Sudanese, Algerian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3520440" y="5097780"/>
            <a:ext cx="1828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3721608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3813048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machines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3813048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VM</a:t>
            </a:r>
            <a:endParaRPr lang="en-US" sz="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VM</a:t>
            </a:r>
            <a:endParaRPr lang="en-US" sz="900" dirty="0"/>
          </a:p>
        </p:txBody>
      </p:sp>
      <p:sp>
        <p:nvSpPr>
          <p:cNvPr id="43" name="Shape 35"/>
          <p:cNvSpPr/>
          <p:nvPr/>
        </p:nvSpPr>
        <p:spPr>
          <a:xfrm>
            <a:off x="5221224" y="5097780"/>
            <a:ext cx="1828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5422392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513832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150" dirty="0"/>
          </a:p>
        </p:txBody>
      </p:sp>
      <p:sp>
        <p:nvSpPr>
          <p:cNvPr id="46" name="Text 38"/>
          <p:cNvSpPr txBox="1"/>
          <p:nvPr/>
        </p:nvSpPr>
        <p:spPr>
          <a:xfrm>
            <a:off x="5513832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screenshots and navigates with the mouse and keyboard</a:t>
            </a:r>
            <a:endParaRPr lang="en-US" sz="900" dirty="0"/>
          </a:p>
        </p:txBody>
      </p:sp>
      <p:sp>
        <p:nvSpPr>
          <p:cNvPr id="47" name="Shape 39"/>
          <p:cNvSpPr/>
          <p:nvPr/>
        </p:nvSpPr>
        <p:spPr>
          <a:xfrm>
            <a:off x="6922008" y="5097780"/>
            <a:ext cx="1828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8" name="Shape 40"/>
          <p:cNvSpPr/>
          <p:nvPr/>
        </p:nvSpPr>
        <p:spPr>
          <a:xfrm>
            <a:off x="7123176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7214616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50" dirty="0"/>
          </a:p>
        </p:txBody>
      </p:sp>
      <p:sp>
        <p:nvSpPr>
          <p:cNvPr id="50" name="Text 42"/>
          <p:cNvSpPr txBox="1"/>
          <p:nvPr/>
        </p:nvSpPr>
        <p:spPr>
          <a:xfrm>
            <a:off x="7214616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recorded. The final request is captured but not sent.</a:t>
            </a:r>
            <a:endParaRPr lang="en-US" sz="900" dirty="0"/>
          </a:p>
        </p:txBody>
      </p:sp>
      <p:sp>
        <p:nvSpPr>
          <p:cNvPr id="51" name="Shape 43"/>
          <p:cNvSpPr/>
          <p:nvPr/>
        </p:nvSpPr>
        <p:spPr>
          <a:xfrm>
            <a:off x="8622792" y="5097780"/>
            <a:ext cx="1828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8823960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8915400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Checker</a:t>
            </a:r>
            <a:endParaRPr lang="en-US" sz="1150" dirty="0"/>
          </a:p>
        </p:txBody>
      </p:sp>
      <p:sp>
        <p:nvSpPr>
          <p:cNvPr id="54" name="Text 46"/>
          <p:cNvSpPr txBox="1"/>
          <p:nvPr/>
        </p:nvSpPr>
        <p:spPr>
          <a:xfrm>
            <a:off x="8915400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the recorded evidence. No LLM judge.</a:t>
            </a:r>
            <a:endParaRPr lang="en-US" sz="900" dirty="0"/>
          </a:p>
        </p:txBody>
      </p:sp>
      <p:sp>
        <p:nvSpPr>
          <p:cNvPr id="55" name="Shape 47"/>
          <p:cNvSpPr/>
          <p:nvPr/>
        </p:nvSpPr>
        <p:spPr>
          <a:xfrm>
            <a:off x="10323576" y="5097780"/>
            <a:ext cx="1828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10524744" y="4434840"/>
            <a:ext cx="1481328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10616184" y="454456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150" dirty="0"/>
          </a:p>
        </p:txBody>
      </p:sp>
      <p:sp>
        <p:nvSpPr>
          <p:cNvPr id="58" name="Text 50"/>
          <p:cNvSpPr txBox="1"/>
          <p:nvPr/>
        </p:nvSpPr>
        <p:spPr>
          <a:xfrm>
            <a:off x="10616184" y="4846320"/>
            <a:ext cx="1298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or fail for each language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74904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29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sees and does</a:t>
            </a:r>
            <a:endParaRPr lang="en-US" sz="1300" dirty="0"/>
          </a:p>
        </p:txBody>
      </p:sp>
      <p:pic>
        <p:nvPicPr>
          <p:cNvPr id="4" name="Image 0" descr="e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8680"/>
            <a:ext cx="3474720" cy="1938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3474720" cy="1938528"/>
          </a:xfrm>
          <a:prstGeom prst="rect">
            <a:avLst/>
          </a:prstGeom>
          <a:ln w="9525">
            <a:solidFill>
              <a:srgbClr val="77777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880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screenshot per step (1360 × 768). Nothing else: no page source, no accessibility tree, no hints.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click, double click, drag, scroll, type, press key, wait, done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343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572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task has a fixed step and time limit (for example 150 steps or 30 minutes). The same limit is used for both languages and for every model.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4406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Frozen. A test fails if any instruction changes, and numbers, IDs and quoted text are the same in every language.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7680" y="320040"/>
            <a:ext cx="374904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34840" y="429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machines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8686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VM</a:t>
            </a:r>
            <a:endParaRPr lang="en-US" sz="1050" dirty="0"/>
          </a:p>
        </p:txBody>
      </p:sp>
      <p:pic>
        <p:nvPicPr>
          <p:cNvPr id="16" name="Image 1" descr="vm-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097280"/>
            <a:ext cx="3474720" cy="19659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434840" y="1097280"/>
            <a:ext cx="3474720" cy="1965960"/>
          </a:xfrm>
          <a:prstGeom prst="rect">
            <a:avLst/>
          </a:prstGeom>
          <a:ln w="9525">
            <a:solidFill>
              <a:srgbClr val="77777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3200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VM</a:t>
            </a:r>
            <a:endParaRPr lang="en-US" sz="1050" dirty="0"/>
          </a:p>
        </p:txBody>
      </p:sp>
      <p:pic>
        <p:nvPicPr>
          <p:cNvPr id="19" name="Image 2" descr="vm-ms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429000"/>
            <a:ext cx="3474720" cy="19659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434840" y="3429000"/>
            <a:ext cx="3474720" cy="1965960"/>
          </a:xfrm>
          <a:prstGeom prst="rect">
            <a:avLst/>
          </a:prstGeom>
          <a:ln w="9525">
            <a:solidFill>
              <a:srgbClr val="77777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34840" y="5486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machines start from the same image and the same files. The only difference is the system language: the Arabic machine has an Arabic interface, keyboard and folder names, laid out right to left.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275320" y="320040"/>
            <a:ext cx="361188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412480" y="42976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grade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412480" y="868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412480" y="1097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screenshot, every action and every network request is saved for each run.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17373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websites, no side effects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196596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payments, applications and posts, a proxy captures the final request and does not send it. The captured request is the evidence.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412480" y="28346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Checker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8412480" y="3063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 task. It looks at the saved files, the application state or the captured request and returns one of three results. No LLM judge.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412480" y="3977640"/>
            <a:ext cx="1005840" cy="292608"/>
          </a:xfrm>
          <a:prstGeom prst="rect">
            <a:avLst/>
          </a:prstGeom>
          <a:noFill/>
          <a:ln w="12700">
            <a:solidFill>
              <a:srgbClr val="1E7B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E7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9555480" y="3977640"/>
            <a:ext cx="1005840" cy="292608"/>
          </a:xfrm>
          <a:prstGeom prst="rect">
            <a:avLst/>
          </a:prstGeom>
          <a:noFill/>
          <a:ln w="12700">
            <a:solidFill>
              <a:srgbClr val="B222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10698480" y="3977640"/>
            <a:ext cx="1097280" cy="292608"/>
          </a:xfrm>
          <a:prstGeom prst="rect">
            <a:avLst/>
          </a:prstGeom>
          <a:noFill/>
          <a:ln w="12700">
            <a:solidFill>
              <a:srgbClr val="4444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EVAL_ERROR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412480" y="434340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EVAL_ERROR means something on our side broke (setup, recorder, checker, API). Those runs are thrown out and rerun. They are never counted as a model failure.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8412480" y="530352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8412480" y="553212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compare each task in English against the same task in Arabic. When one language passes and the other fails, that pair is rerun 3 times and checked by hand before it counts.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2026-09-02T14:58:37Z</dcterms:created>
  <dcterms:modified xsi:type="dcterms:W3CDTF">2026-09-02T14:58:37Z</dcterms:modified>
</cp:coreProperties>
</file>